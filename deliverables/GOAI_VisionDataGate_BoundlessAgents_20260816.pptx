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dfdae8e9b4896" /><Relationship Type="http://schemas.openxmlformats.org/officeDocument/2006/relationships/extended-properties" Target="/docProps/app.xml" Id="R3d2b5b968c224b1a" /><Relationship Type="http://schemas.openxmlformats.org/officeDocument/2006/relationships/officeDocument" Target="/ppt/presentation.xml" Id="R595494151489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892b363da8432c"/>
  </p:sldMasterIdLst>
  <p:notesMasterIdLst>
    <p:notesMasterId xmlns:r="http://schemas.openxmlformats.org/officeDocument/2006/relationships" r:id="Rd0109ad183bc42fe"/>
  </p:notesMasterIdLst>
  <p:sldIdLst>
    <p:sldId xmlns:r="http://schemas.openxmlformats.org/officeDocument/2006/relationships" id="256" r:id="Rc8604548a98d4fa8"/>
    <p:sldId xmlns:r="http://schemas.openxmlformats.org/officeDocument/2006/relationships" id="257" r:id="R238363b88ddf4c09"/>
    <p:sldId xmlns:r="http://schemas.openxmlformats.org/officeDocument/2006/relationships" id="258" r:id="R2efb32e8c8714e6a"/>
    <p:sldId xmlns:r="http://schemas.openxmlformats.org/officeDocument/2006/relationships" id="259" r:id="Rbc95f4a3c15f489a"/>
    <p:sldId xmlns:r="http://schemas.openxmlformats.org/officeDocument/2006/relationships" id="260" r:id="R921d2da37ce54bbe"/>
    <p:sldId xmlns:r="http://schemas.openxmlformats.org/officeDocument/2006/relationships" id="261" r:id="R06541eb4010b4cb8"/>
    <p:sldId xmlns:r="http://schemas.openxmlformats.org/officeDocument/2006/relationships" id="262" r:id="Rf8e107276fe0411f"/>
    <p:sldId xmlns:r="http://schemas.openxmlformats.org/officeDocument/2006/relationships" id="263" r:id="Rf4e70e83bc964215"/>
    <p:sldId xmlns:r="http://schemas.openxmlformats.org/officeDocument/2006/relationships" id="264" r:id="Re07d21b05de94ec5"/>
    <p:sldId xmlns:r="http://schemas.openxmlformats.org/officeDocument/2006/relationships" id="265" r:id="R0a208b9c7ae14002"/>
    <p:sldId xmlns:r="http://schemas.openxmlformats.org/officeDocument/2006/relationships" id="266" r:id="R0733fe87fb6345e8"/>
    <p:sldId xmlns:r="http://schemas.openxmlformats.org/officeDocument/2006/relationships" id="267" r:id="R12f58a278c7741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dbb87f01a4c70" /><Relationship Type="http://schemas.openxmlformats.org/officeDocument/2006/relationships/slideMaster" Target="/ppt/slideMasters/slideMaster1.xml" Id="Rf0892b363da8432c" /><Relationship Type="http://schemas.openxmlformats.org/officeDocument/2006/relationships/notesMaster" Target="/ppt/notesMasters/notesMaster1.xml" Id="Rd0109ad183bc42fe" /><Relationship Type="http://schemas.openxmlformats.org/officeDocument/2006/relationships/presProps" Target="/ppt/presProps.xml" Id="Rfbff9d624331438b" /><Relationship Type="http://schemas.openxmlformats.org/officeDocument/2006/relationships/tableStyles" Target="/ppt/tableStyles.xml" Id="R9191045c8157428d" /><Relationship Type="http://schemas.openxmlformats.org/officeDocument/2006/relationships/slide" Target="/ppt/slides/slide1.xml" Id="Rc8604548a98d4fa8" /><Relationship Type="http://schemas.openxmlformats.org/officeDocument/2006/relationships/slide" Target="/ppt/slides/slide2.xml" Id="R238363b88ddf4c09" /><Relationship Type="http://schemas.openxmlformats.org/officeDocument/2006/relationships/slide" Target="/ppt/slides/slide3.xml" Id="R2efb32e8c8714e6a" /><Relationship Type="http://schemas.openxmlformats.org/officeDocument/2006/relationships/slide" Target="/ppt/slides/slide4.xml" Id="Rbc95f4a3c15f489a" /><Relationship Type="http://schemas.openxmlformats.org/officeDocument/2006/relationships/slide" Target="/ppt/slides/slide5.xml" Id="R921d2da37ce54bbe" /><Relationship Type="http://schemas.openxmlformats.org/officeDocument/2006/relationships/slide" Target="/ppt/slides/slide6.xml" Id="R06541eb4010b4cb8" /><Relationship Type="http://schemas.openxmlformats.org/officeDocument/2006/relationships/slide" Target="/ppt/slides/slide7.xml" Id="Rf8e107276fe0411f" /><Relationship Type="http://schemas.openxmlformats.org/officeDocument/2006/relationships/slide" Target="/ppt/slides/slide8.xml" Id="Rf4e70e83bc964215" /><Relationship Type="http://schemas.openxmlformats.org/officeDocument/2006/relationships/slide" Target="/ppt/slides/slide9.xml" Id="Re07d21b05de94ec5" /><Relationship Type="http://schemas.openxmlformats.org/officeDocument/2006/relationships/slide" Target="/ppt/slides/slide10.xml" Id="R0a208b9c7ae14002" /><Relationship Type="http://schemas.openxmlformats.org/officeDocument/2006/relationships/slide" Target="/ppt/slides/slide11.xml" Id="R0733fe87fb6345e8" /><Relationship Type="http://schemas.openxmlformats.org/officeDocument/2006/relationships/slide" Target="/ppt/slides/slide12.xml" Id="R12f58a278c7741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a7a154ab8b47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9a9ecdec9245c2" /><Relationship Type="http://schemas.openxmlformats.org/officeDocument/2006/relationships/notesMaster" Target="/ppt/notesMasters/notesMaster1.xml" Id="R06bbe25f2ed543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d7bc4fabd44d3b" /><Relationship Type="http://schemas.openxmlformats.org/officeDocument/2006/relationships/notesMaster" Target="/ppt/notesMasters/notesMaster1.xml" Id="R34071a4118604d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b9aabb1c1c4c43" /><Relationship Type="http://schemas.openxmlformats.org/officeDocument/2006/relationships/notesMaster" Target="/ppt/notesMasters/notesMaster1.xml" Id="R4538b286498946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6e91e1e2474402" /><Relationship Type="http://schemas.openxmlformats.org/officeDocument/2006/relationships/notesMaster" Target="/ppt/notesMasters/notesMaster1.xml" Id="R2f45f277b40c4e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6c8fea12e74ba0" /><Relationship Type="http://schemas.openxmlformats.org/officeDocument/2006/relationships/notesMaster" Target="/ppt/notesMasters/notesMaster1.xml" Id="Rdd5e17a112a748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99ac73964a46fa" /><Relationship Type="http://schemas.openxmlformats.org/officeDocument/2006/relationships/notesMaster" Target="/ppt/notesMasters/notesMaster1.xml" Id="R6c50e656e3214a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e5bbe0cdfa462f" /><Relationship Type="http://schemas.openxmlformats.org/officeDocument/2006/relationships/notesMaster" Target="/ppt/notesMasters/notesMaster1.xml" Id="R17f947e00a2943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6f2229632548d0" /><Relationship Type="http://schemas.openxmlformats.org/officeDocument/2006/relationships/notesMaster" Target="/ppt/notesMasters/notesMaster1.xml" Id="R89fcbcdcaa874b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bec32b07fc47e9" /><Relationship Type="http://schemas.openxmlformats.org/officeDocument/2006/relationships/notesMaster" Target="/ppt/notesMasters/notesMaster1.xml" Id="R5166974d090445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aa113ea34e4c68" /><Relationship Type="http://schemas.openxmlformats.org/officeDocument/2006/relationships/notesMaster" Target="/ppt/notesMasters/notesMaster1.xml" Id="Ra10863f4b95b43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268a0879984798" /><Relationship Type="http://schemas.openxmlformats.org/officeDocument/2006/relationships/notesMaster" Target="/ppt/notesMasters/notesMaster1.xml" Id="R3931c4991a614c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1a205ff652491c" /><Relationship Type="http://schemas.openxmlformats.org/officeDocument/2006/relationships/notesMaster" Target="/ppt/notesMasters/notesMaster1.xml" Id="R7135d3505a0b4b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开场先给结论：项目已经完成本地应用闭环，并在 Omni-180-v1 固定公开数据上完成 Gate 实跑；客户、工厂与生产环境是下一阶段外部验收。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Official: https://www.goaihz.com/tracks?track=apps</a:t>
            </a:r>
          </a:p>
          <a:p xmlns:a="http://schemas.openxmlformats.org/drawingml/2006/main">
            <a:r>
              <a:t>- Local: README.md</a:t>
            </a:r>
          </a:p>
          <a:p xmlns:a="http://schemas.openxmlformats.org/drawingml/2006/main">
            <a:r>
              <a:t>- Local: evidence/submission/vdg-20260816-rc1/scenario_delivery_receipt.json</a:t>
            </a:r>
          </a:p>
          <a:p xmlns:a="http://schemas.openxmlformats.org/drawingml/2006/main">
            <a:r>
              <a:t>- Local: output/playwright/reviewer_mode_hero_20260816.png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把问题说成发布流程，而不是通用问答或内容生成。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Official: https://www.goaihz.com/tracks?track=apps</a:t>
            </a:r>
          </a:p>
          <a:p xmlns:a="http://schemas.openxmlformats.org/drawingml/2006/main">
            <a:r>
              <a:t>- Local: docs/one_pager.md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六步闭环全部绑定同一个 task ID，修复后仍按原合同复验。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docs/BOUNDLESS_AGENTS_TECHNICAL_ROUTE.md</a:t>
            </a:r>
          </a:p>
          <a:p xmlns:a="http://schemas.openxmlformats.org/drawingml/2006/main">
            <a:r>
              <a:t>- Local: evidence/submission/vdg-20260816-rc1/release_manifest.json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固定检查只是第一波；Leader 只有在中间证据改变下一步时才增派 Worker。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evidence/submission/vdg-20260816-rc1/dynamic_leader_plan.json</a:t>
            </a:r>
          </a:p>
          <a:p xmlns:a="http://schemas.openxmlformats.org/drawingml/2006/main">
            <a:r>
              <a:t>- Local: src/visiondata_gate/reviewer_canvas.py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确定性工具负责测量，专家 Worker 解释和质询，Policy Judge 保留唯一发布权。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docs/AGENT_RUNTIME.md</a:t>
            </a:r>
          </a:p>
          <a:p xmlns:a="http://schemas.openxmlformats.org/drawingml/2006/main">
            <a:r>
              <a:t>- Local: docs/CLAIM_SCOPE.md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是应用的第二个入口，不把 HTTP 存在本身包装成客户 SaaS 或生产部署。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docs/API_QUICKSTART.md</a:t>
            </a:r>
          </a:p>
          <a:p xmlns:a="http://schemas.openxmlformats.org/drawingml/2006/main">
            <a:r>
              <a:t>- Local: output/playwright/api_integration_20260816.png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主动展示负结论：固定 SOP 下多 Agent 没有质量优势，因此只在动态补证边界使用。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evidence/submission/vdg-20260816-rc1/architecture_benchmark.json</a:t>
            </a:r>
          </a:p>
          <a:p xmlns:a="http://schemas.openxmlformats.org/drawingml/2006/main">
            <a:r>
              <a:t>- Local: evidence/submission/vdg-20260816-rc1/release_manifest.json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证据矩阵让评委从触发证据一路回放到规则检查，避免只展示最后结论。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evidence/submission/vdg-20260816-rc1/omni_gate_result.json</a:t>
            </a:r>
          </a:p>
          <a:p xmlns:a="http://schemas.openxmlformats.org/drawingml/2006/main">
            <a:r>
              <a:t>- Local: evidence/submission/vdg-20260816-rc1/omni_gate_receipt.json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Omni 分母必须说清：180 张完成 Gate；4,464 张源树仅做结构与解码审计。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output/playwright/reviewer_mode_dynamic_20260816.png</a:t>
            </a:r>
          </a:p>
          <a:p xmlns:a="http://schemas.openxmlformats.org/drawingml/2006/main">
            <a:r>
              <a:t>- Local: evidence/submission/vdg-20260816-rc1/dynamic_leader_plan.json</a:t>
            </a:r>
          </a:p>
          <a:p xmlns:a="http://schemas.openxmlformats.org/drawingml/2006/main">
            <a:r>
              <a:t>- Local: evidence/submission/vdg-20260816-rc1/omni_gate_receipt.json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先由应用场景提出可信约束，再由 Infra 将约束固化成可复用 Runtime。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docs/BOUNDLESS_AGENTS_TECHNICAL_ROUTE.md</a:t>
            </a:r>
          </a:p>
          <a:p xmlns:a="http://schemas.openxmlformats.org/drawingml/2006/main">
            <a:r>
              <a:t>- Local: docs/CLAIM_SCOPE.md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用三级证据回答‘项目到底做了什么’：工程实现和固定公开数据实跑均已完成；外部验收用于扩展采用范围，不反向否定前两层。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evidence/submission/vdg-20260816-rc1/scenario_delivery_receipt.json</a:t>
            </a:r>
          </a:p>
          <a:p xmlns:a="http://schemas.openxmlformats.org/drawingml/2006/main">
            <a:r>
              <a:t>- Local: evidence/submission/vdg-20260816-rc1/release_manifest.json</a:t>
            </a:r>
          </a:p>
          <a:p xmlns:a="http://schemas.openxmlformats.org/drawingml/2006/main">
            <a:r>
              <a:t>- Local: evidence/submission/vdg-20260816-rc1/omni_gate_receipt.json</a:t>
            </a:r>
          </a:p>
          <a:p xmlns:a="http://schemas.openxmlformats.org/drawingml/2006/main">
            <a:r>
              <a:t>- Local: evidence/submission/vdg-20260816-rc1/architecture_benchmark.json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收束到应用结果：可运行、可验证、可复制，同时保留外部证据边界。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Official: https://www.goaihz.com/tracks?track=apps</a:t>
            </a:r>
          </a:p>
          <a:p xmlns:a="http://schemas.openxmlformats.org/drawingml/2006/main">
            <a:r>
              <a:t>- Local: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b7386ef2e42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7133f7a4e74f4f" /><Relationship Type="http://schemas.openxmlformats.org/officeDocument/2006/relationships/slideLayout" Target="/ppt/slideLayouts/slideLayout1.xml" Id="R71c828f3edc14f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c828f3edc14f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071f3bfd2425c" /><Relationship Type="http://schemas.openxmlformats.org/officeDocument/2006/relationships/image" Target="/ppt/media/image.png" Id="Refa3164d8ffb4979" /><Relationship Type="http://schemas.openxmlformats.org/officeDocument/2006/relationships/notesSlide" Target="/ppt/notesSlides/notesSlide1.xml" Id="R187a40f74af044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c629a572647bb" /><Relationship Type="http://schemas.openxmlformats.org/officeDocument/2006/relationships/notesSlide" Target="/ppt/notesSlides/notesSlide2.xml" Id="R1a8b23285dc34d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67a7c1e134f59" /><Relationship Type="http://schemas.openxmlformats.org/officeDocument/2006/relationships/notesSlide" Target="/ppt/notesSlides/notesSlide3.xml" Id="R7096a271e1d645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aa958d908478e" /><Relationship Type="http://schemas.openxmlformats.org/officeDocument/2006/relationships/notesSlide" Target="/ppt/notesSlides/notesSlide4.xml" Id="R13c25e19603842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875fd6447430a" /><Relationship Type="http://schemas.openxmlformats.org/officeDocument/2006/relationships/notesSlide" Target="/ppt/notesSlides/notesSlide5.xml" Id="R46f02ec64a6d45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33259fd584e16" /><Relationship Type="http://schemas.openxmlformats.org/officeDocument/2006/relationships/image" Target="/ppt/media/image2.png" Id="R8d1e5ce910694d74" /><Relationship Type="http://schemas.openxmlformats.org/officeDocument/2006/relationships/notesSlide" Target="/ppt/notesSlides/notesSlide6.xml" Id="R8ada3ae035e245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dc6f5f28c4915" /><Relationship Type="http://schemas.openxmlformats.org/officeDocument/2006/relationships/notesSlide" Target="/ppt/notesSlides/notesSlide7.xml" Id="Re09e929220af43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81d41ff9c491a" /><Relationship Type="http://schemas.openxmlformats.org/officeDocument/2006/relationships/notesSlide" Target="/ppt/notesSlides/notesSlide8.xml" Id="Rb362e470cb5d4a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d948ad8654381" /><Relationship Type="http://schemas.openxmlformats.org/officeDocument/2006/relationships/image" Target="/ppt/media/image3.png" Id="R40309df310ed4f6a" /><Relationship Type="http://schemas.openxmlformats.org/officeDocument/2006/relationships/notesSlide" Target="/ppt/notesSlides/notesSlide9.xml" Id="R25d0fc98726e48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1097c61ca43b7" /><Relationship Type="http://schemas.openxmlformats.org/officeDocument/2006/relationships/notesSlide" Target="/ppt/notesSlides/notesSlide10.xml" Id="R67654a9027f046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abf5d45f24bb4" /><Relationship Type="http://schemas.openxmlformats.org/officeDocument/2006/relationships/notesSlide" Target="/ppt/notesSlides/notesSlide11.xml" Id="Rf3037955cc0f4c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d39fc1698455d" /><Relationship Type="http://schemas.openxmlformats.org/officeDocument/2006/relationships/notesSlide" Target="/ppt/notesSlides/notesSlide12.xml" Id="R44a259b3614a41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-eyebrow">
            <a:extLst xmlns:a="http://schemas.openxmlformats.org/drawingml/2006/main">
              <a:ext uri="{FF2B5EF4-FFF2-40B4-BE49-F238E27FC236}">
                <a16:creationId xmlns:a16="http://schemas.microsoft.com/office/drawing/2014/main" id="{551C278F-E506-46F6-987B-DABAE1F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GOAI 赛道二 · 无界应用 · AI+工业制造</a:t>
            </a:r>
          </a:p>
        </p:txBody>
      </p:sp>
      <p:sp>
        <p:nvSpPr>
          <p:cNvPr id="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7AB3FCC0-1BA2-40A6-A125-FD76EC03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725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VisionData Gate</a:t>
            </a:r>
          </a:p>
        </p:txBody>
      </p:sp>
      <p:sp>
        <p:nvSpPr>
          <p:cNvPr id="3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5779C6E6-F40D-49EE-87C2-F7C3C76D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95500"/>
            <a:ext cx="5476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工业视觉数据治理与发布 Agent</a:t>
            </a:r>
          </a:p>
        </p:txBody>
      </p:sp>
      <p:sp>
        <p:nvSpPr>
          <p:cNvPr id="4" name="slide-1-claim">
            <a:extLst xmlns:a="http://schemas.openxmlformats.org/drawingml/2006/main">
              <a:ext uri="{FF2B5EF4-FFF2-40B4-BE49-F238E27FC236}">
                <a16:creationId xmlns:a16="http://schemas.microsoft.com/office/drawing/2014/main" id="{FD5F0E00-B874-4FF6-9C00-8544FA0D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33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让每个数据批次带着证据进入训练</a:t>
            </a:r>
          </a:p>
          <a:p xmlns:a="http://schemas.openxmlformats.org/drawingml/2006/main">
            <a:r>
              <a:rPr sz="210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检查、整改、复验与交付一次闭环</a:t>
            </a:r>
          </a:p>
        </p:txBody>
      </p:sp>
      <p:sp>
        <p:nvSpPr>
          <p:cNvPr id="5" name="slide-1-boundary">
            <a:extLst xmlns:a="http://schemas.openxmlformats.org/drawingml/2006/main">
              <a:ext uri="{FF2B5EF4-FFF2-40B4-BE49-F238E27FC236}">
                <a16:creationId xmlns:a16="http://schemas.microsoft.com/office/drawing/2014/main" id="{8DA089BF-4EA5-4680-BDEF-CE052EC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2387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6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66300"/>
                </a:solidFill>
                <a:latin typeface="Microsoft YaHei"/>
                <a:ea typeface="Microsoft YaHei"/>
                <a:cs typeface="Microsoft YaHei"/>
              </a:rPr>
              <a:t>已工程实现：本地闭环 PASS｜已公开数据实跑：Omni-180-v1
下一阶段：客户、工厂与生产环境外部验收</a:t>
            </a:r>
          </a:p>
        </p:txBody>
      </p:sp>
      <p:sp>
        <p:nvSpPr>
          <p:cNvPr id="6" name="slide-1-image-backing">
            <a:extLst xmlns:a="http://schemas.openxmlformats.org/drawingml/2006/main">
              <a:ext uri="{FF2B5EF4-FFF2-40B4-BE49-F238E27FC236}">
                <a16:creationId xmlns:a16="http://schemas.microsoft.com/office/drawing/2014/main" id="{38AB484E-271A-481E-A97C-7A6F04D0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3164d8ffb4979"/>
          <a:srcRect xmlns:a="http://schemas.openxmlformats.org/drawingml/2006/main" l="22188" t="0" r="22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8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67FC9CF0-AD87-41FB-8036-34D926E3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1294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C241FF9-6CDC-464B-A86F-B203328F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用户要的不是脚本结果，而是可交付的发布决定</a:t>
            </a:r>
          </a:p>
        </p:txBody>
      </p:sp>
      <p:sp>
        <p:nvSpPr>
          <p:cNvPr id="2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77B32A53-4D78-448D-8F0F-1B50AB1D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slide-2-intro">
            <a:extLst xmlns:a="http://schemas.openxmlformats.org/drawingml/2006/main">
              <a:ext uri="{FF2B5EF4-FFF2-40B4-BE49-F238E27FC236}">
                <a16:creationId xmlns:a16="http://schemas.microsoft.com/office/drawing/2014/main" id="{61930905-08D2-44B6-8519-4524BA3A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目标用户是视觉算法工程师与工业数据治理团队。批次进入训练前，质量、标注、划分、覆盖和治理证据分散在多个脚本里；结论冲突时没有统一工单、负责人和同规则复验。</a:t>
            </a:r>
          </a:p>
        </p:txBody>
      </p:sp>
      <p:sp>
        <p:nvSpPr>
          <p:cNvPr id="4" name="slide-2-card-1">
            <a:extLst xmlns:a="http://schemas.openxmlformats.org/drawingml/2006/main">
              <a:ext uri="{FF2B5EF4-FFF2-40B4-BE49-F238E27FC236}">
                <a16:creationId xmlns:a16="http://schemas.microsoft.com/office/drawing/2014/main" id="{0674F8D9-9767-4F23-A50B-D2AA05EA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162300"/>
            <a:ext cx="553393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2-accent-1">
            <a:extLst xmlns:a="http://schemas.openxmlformats.org/drawingml/2006/main">
              <a:ext uri="{FF2B5EF4-FFF2-40B4-BE49-F238E27FC236}">
                <a16:creationId xmlns:a16="http://schemas.microsoft.com/office/drawing/2014/main" id="{8450FDC2-58E7-4FC7-843C-A53D5844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162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2-card-title-1">
            <a:extLst xmlns:a="http://schemas.openxmlformats.org/drawingml/2006/main">
              <a:ext uri="{FF2B5EF4-FFF2-40B4-BE49-F238E27FC236}">
                <a16:creationId xmlns:a16="http://schemas.microsoft.com/office/drawing/2014/main" id="{9DA094FE-77FF-455B-A519-FD6D27EB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" y="3448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检查分散，整改脱节</a:t>
            </a:r>
          </a:p>
        </p:txBody>
      </p:sp>
      <p:sp>
        <p:nvSpPr>
          <p:cNvPr id="7" name="slide-2-card-detail-1">
            <a:extLst xmlns:a="http://schemas.openxmlformats.org/drawingml/2006/main">
              <a:ext uri="{FF2B5EF4-FFF2-40B4-BE49-F238E27FC236}">
                <a16:creationId xmlns:a16="http://schemas.microsoft.com/office/drawing/2014/main" id="{2CD68AD3-7274-4FB4-92F1-2152328C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" y="4953000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碎片化检查无法对齐样本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冲突处置没有统一责任人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问题与复验规则经常脱节</a:t>
            </a:r>
          </a:p>
        </p:txBody>
      </p:sp>
      <p:sp>
        <p:nvSpPr>
          <p:cNvPr id="8" name="slide-2-card-2">
            <a:extLst xmlns:a="http://schemas.openxmlformats.org/drawingml/2006/main">
              <a:ext uri="{FF2B5EF4-FFF2-40B4-BE49-F238E27FC236}">
                <a16:creationId xmlns:a16="http://schemas.microsoft.com/office/drawing/2014/main" id="{358A1201-E716-4928-A98F-32440C39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162300"/>
            <a:ext cx="553393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-2-accent-2">
            <a:extLst xmlns:a="http://schemas.openxmlformats.org/drawingml/2006/main">
              <a:ext uri="{FF2B5EF4-FFF2-40B4-BE49-F238E27FC236}">
                <a16:creationId xmlns:a16="http://schemas.microsoft.com/office/drawing/2014/main" id="{1A52D465-FDA7-4EDC-BEDD-B4F947AE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162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2-card-title-2">
            <a:extLst xmlns:a="http://schemas.openxmlformats.org/drawingml/2006/main">
              <a:ext uri="{FF2B5EF4-FFF2-40B4-BE49-F238E27FC236}">
                <a16:creationId xmlns:a16="http://schemas.microsoft.com/office/drawing/2014/main" id="{9F1525C9-D0CC-4D89-85C9-94576D1C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533" y="3448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结论、工单与凭证一起交付</a:t>
            </a:r>
          </a:p>
        </p:txBody>
      </p:sp>
      <p:sp>
        <p:nvSpPr>
          <p:cNvPr id="11" name="slide-2-card-detail-2">
            <a:extLst xmlns:a="http://schemas.openxmlformats.org/drawingml/2006/main">
              <a:ext uri="{FF2B5EF4-FFF2-40B4-BE49-F238E27FC236}">
                <a16:creationId xmlns:a16="http://schemas.microsoft.com/office/drawing/2014/main" id="{75258BA6-E80C-4391-9D58-AD7BD203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533" y="4953000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GateResult + 整改工单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证据矩阵 + reason trace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SHA-256 凭证 + 同合同复验</a:t>
            </a:r>
          </a:p>
        </p:txBody>
      </p:sp>
    </p:spTree>
    <p:extLst>
      <p:ext uri="{BB962C8B-B14F-4D97-AF65-F5344CB8AC3E}">
        <p14:creationId xmlns:p14="http://schemas.microsoft.com/office/powerpoint/2010/main" val="1087100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0D993139-386E-40A0-94B8-E041AB56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六个步骤只围绕一个任务 ID 前进</a:t>
            </a:r>
          </a:p>
        </p:txBody>
      </p:sp>
      <p:sp>
        <p:nvSpPr>
          <p:cNvPr id="2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C0AB3FDA-573E-4EA2-970A-4BB036E5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slide-3-timeline-rule">
            <a:extLst xmlns:a="http://schemas.openxmlformats.org/drawingml/2006/main">
              <a:ext uri="{FF2B5EF4-FFF2-40B4-BE49-F238E27FC236}">
                <a16:creationId xmlns:a16="http://schemas.microsoft.com/office/drawing/2014/main" id="{38818C12-1B4D-4014-8A0A-B851F825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3-label-1">
            <a:extLst xmlns:a="http://schemas.openxmlformats.org/drawingml/2006/main">
              <a:ext uri="{FF2B5EF4-FFF2-40B4-BE49-F238E27FC236}">
                <a16:creationId xmlns:a16="http://schemas.microsoft.com/office/drawing/2014/main" id="{36336E64-0D08-4C74-BE9B-D2A19852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01-02 · 输入与检查</a:t>
            </a:r>
          </a:p>
        </p:txBody>
      </p:sp>
      <p:sp>
        <p:nvSpPr>
          <p:cNvPr id="5" name="slide-3-node-1">
            <a:extLst xmlns:a="http://schemas.openxmlformats.org/drawingml/2006/main">
              <a:ext uri="{FF2B5EF4-FFF2-40B4-BE49-F238E27FC236}">
                <a16:creationId xmlns:a16="http://schemas.microsoft.com/office/drawing/2014/main" id="{E006E377-3FF3-4E71-8EC7-31A87480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3-step-title-1">
            <a:extLst xmlns:a="http://schemas.openxmlformats.org/drawingml/2006/main">
              <a:ext uri="{FF2B5EF4-FFF2-40B4-BE49-F238E27FC236}">
                <a16:creationId xmlns:a16="http://schemas.microsoft.com/office/drawing/2014/main" id="{40084C31-B1E5-487A-9A48-41C38C6F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理解目标｜并行检查</a:t>
            </a:r>
          </a:p>
        </p:txBody>
      </p:sp>
      <p:sp>
        <p:nvSpPr>
          <p:cNvPr id="7" name="slide-3-step-body-1">
            <a:extLst xmlns:a="http://schemas.openxmlformats.org/drawingml/2006/main">
              <a:ext uri="{FF2B5EF4-FFF2-40B4-BE49-F238E27FC236}">
                <a16:creationId xmlns:a16="http://schemas.microsoft.com/office/drawing/2014/main" id="{8538F5B0-20E7-4DC0-9892-F84D0C27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冻结合同、场景和权限；五类只读工具并行生成 typed findings。</a:t>
            </a:r>
          </a:p>
        </p:txBody>
      </p:sp>
      <p:sp>
        <p:nvSpPr>
          <p:cNvPr id="8" name="slide-3-label-2">
            <a:extLst xmlns:a="http://schemas.openxmlformats.org/drawingml/2006/main">
              <a:ext uri="{FF2B5EF4-FFF2-40B4-BE49-F238E27FC236}">
                <a16:creationId xmlns:a16="http://schemas.microsoft.com/office/drawing/2014/main" id="{EFD981A6-FFED-4E82-AA76-227A77E5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03-04 · 补证与裁决</a:t>
            </a:r>
          </a:p>
        </p:txBody>
      </p:sp>
      <p:sp>
        <p:nvSpPr>
          <p:cNvPr id="9" name="slide-3-node-2">
            <a:extLst xmlns:a="http://schemas.openxmlformats.org/drawingml/2006/main">
              <a:ext uri="{FF2B5EF4-FFF2-40B4-BE49-F238E27FC236}">
                <a16:creationId xmlns:a16="http://schemas.microsoft.com/office/drawing/2014/main" id="{E522D273-97A0-406E-AADD-ED097059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3-step-title-2">
            <a:extLst xmlns:a="http://schemas.openxmlformats.org/drawingml/2006/main">
              <a:ext uri="{FF2B5EF4-FFF2-40B4-BE49-F238E27FC236}">
                <a16:creationId xmlns:a16="http://schemas.microsoft.com/office/drawing/2014/main" id="{39DCC00B-6189-4F00-A329-6236097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动态补证｜门禁裁决</a:t>
            </a:r>
          </a:p>
        </p:txBody>
      </p:sp>
      <p:sp>
        <p:nvSpPr>
          <p:cNvPr id="11" name="slide-3-step-body-2">
            <a:extLst xmlns:a="http://schemas.openxmlformats.org/drawingml/2006/main">
              <a:ext uri="{FF2B5EF4-FFF2-40B4-BE49-F238E27FC236}">
                <a16:creationId xmlns:a16="http://schemas.microsoft.com/office/drawing/2014/main" id="{0B0852A0-111E-44CA-8733-1DB018B3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Leader 依据中间证据增派 Worker；冻结 Policy 只在证据充分时给结论。</a:t>
            </a:r>
          </a:p>
        </p:txBody>
      </p:sp>
      <p:sp>
        <p:nvSpPr>
          <p:cNvPr id="12" name="slide-3-label-3">
            <a:extLst xmlns:a="http://schemas.openxmlformats.org/drawingml/2006/main">
              <a:ext uri="{FF2B5EF4-FFF2-40B4-BE49-F238E27FC236}">
                <a16:creationId xmlns:a16="http://schemas.microsoft.com/office/drawing/2014/main" id="{7490F755-10AB-4331-8642-39F2C097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05-06 · 整改与交付</a:t>
            </a:r>
          </a:p>
        </p:txBody>
      </p:sp>
      <p:sp>
        <p:nvSpPr>
          <p:cNvPr id="13" name="slide-3-node-3">
            <a:extLst xmlns:a="http://schemas.openxmlformats.org/drawingml/2006/main">
              <a:ext uri="{FF2B5EF4-FFF2-40B4-BE49-F238E27FC236}">
                <a16:creationId xmlns:a16="http://schemas.microsoft.com/office/drawing/2014/main" id="{39F3056F-8B46-4FA5-954B-772BA6E3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lide-3-step-title-3">
            <a:extLst xmlns:a="http://schemas.openxmlformats.org/drawingml/2006/main">
              <a:ext uri="{FF2B5EF4-FFF2-40B4-BE49-F238E27FC236}">
                <a16:creationId xmlns:a16="http://schemas.microsoft.com/office/drawing/2014/main" id="{2F15C765-408E-4F2F-B26A-A1CD01A6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整改复验｜证据交付</a:t>
            </a:r>
          </a:p>
        </p:txBody>
      </p:sp>
      <p:sp>
        <p:nvSpPr>
          <p:cNvPr id="15" name="slide-3-step-body-3">
            <a:extLst xmlns:a="http://schemas.openxmlformats.org/drawingml/2006/main">
              <a:ext uri="{FF2B5EF4-FFF2-40B4-BE49-F238E27FC236}">
                <a16:creationId xmlns:a16="http://schemas.microsoft.com/office/drawing/2014/main" id="{5C6233DB-5097-44D7-8DB7-4E5852C5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finding 映射 work order；修复后按原合同复验，交付 trace、rule checks 与 evidence ZIP。</a:t>
            </a:r>
          </a:p>
        </p:txBody>
      </p:sp>
    </p:spTree>
    <p:extLst>
      <p:ext uri="{BB962C8B-B14F-4D97-AF65-F5344CB8AC3E}">
        <p14:creationId xmlns:p14="http://schemas.microsoft.com/office/powerpoint/2010/main" val="773053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83A7C7C-E4B6-4319-BFBB-27AC431A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固定流程交给工具，变化的下一步交给 Leader</a:t>
            </a:r>
          </a:p>
        </p:txBody>
      </p:sp>
      <p:sp>
        <p:nvSpPr>
          <p:cNvPr id="2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1CB3E654-175A-4C45-8382-AD3F7DFC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lide-4-lead-title">
            <a:extLst xmlns:a="http://schemas.openxmlformats.org/drawingml/2006/main">
              <a:ext uri="{FF2B5EF4-FFF2-40B4-BE49-F238E27FC236}">
                <a16:creationId xmlns:a16="http://schemas.microsoft.com/office/drawing/2014/main" id="{BAC21A8D-9EF3-4472-8347-8153BC6A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86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唯一发布权</a:t>
            </a:r>
          </a:p>
        </p:txBody>
      </p:sp>
      <p:sp>
        <p:nvSpPr>
          <p:cNvPr id="4" name="slide-4-lead-body">
            <a:extLst xmlns:a="http://schemas.openxmlformats.org/drawingml/2006/main">
              <a:ext uri="{FF2B5EF4-FFF2-40B4-BE49-F238E27FC236}">
                <a16:creationId xmlns:a16="http://schemas.microsoft.com/office/drawing/2014/main" id="{21158C29-AF0D-486B-8298-C8B1DAA9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专家 Agent 只能解释与质询</a:t>
            </a:r>
          </a:p>
          <a:p xmlns:a="http://schemas.openxmlformats.org/drawingml/2006/main">
            <a:r>
              <a:rPr sz="180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Policy Judge 决定 PASS / RECAPTURE / DEFER</a:t>
            </a:r>
          </a:p>
        </p:txBody>
      </p:sp>
      <p:sp>
        <p:nvSpPr>
          <p:cNvPr id="5" name="slide-4-lead-rule">
            <a:extLst xmlns:a="http://schemas.openxmlformats.org/drawingml/2006/main">
              <a:ext uri="{FF2B5EF4-FFF2-40B4-BE49-F238E27FC236}">
                <a16:creationId xmlns:a16="http://schemas.microsoft.com/office/drawing/2014/main" id="{BB3B4B7F-9773-48AE-8098-018648C9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34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A6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66300"/>
                </a:solidFill>
                <a:latin typeface="Microsoft YaHei"/>
                <a:ea typeface="Microsoft YaHei"/>
                <a:cs typeface="Microsoft YaHei"/>
              </a:rPr>
              <a:t>关键缺证据 → 失败关闭</a:t>
            </a:r>
          </a:p>
        </p:txBody>
      </p:sp>
      <p:sp>
        <p:nvSpPr>
          <p:cNvPr id="6" name="slide-4-row-label-1">
            <a:extLst xmlns:a="http://schemas.openxmlformats.org/drawingml/2006/main">
              <a:ext uri="{FF2B5EF4-FFF2-40B4-BE49-F238E27FC236}">
                <a16:creationId xmlns:a16="http://schemas.microsoft.com/office/drawing/2014/main" id="{94620301-6E4F-4D3D-89FB-B63EF238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Goal / Planner</a:t>
            </a:r>
          </a:p>
        </p:txBody>
      </p:sp>
      <p:sp>
        <p:nvSpPr>
          <p:cNvPr id="7" name="slide-4-row-body-1">
            <a:extLst xmlns:a="http://schemas.openxmlformats.org/drawingml/2006/main">
              <a:ext uri="{FF2B5EF4-FFF2-40B4-BE49-F238E27FC236}">
                <a16:creationId xmlns:a16="http://schemas.microsoft.com/office/drawing/2014/main" id="{79202098-4571-4276-BE07-5119748D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冻结批次合同、规则包、工具权限与运行身份</a:t>
            </a:r>
          </a:p>
        </p:txBody>
      </p:sp>
      <p:sp>
        <p:nvSpPr>
          <p:cNvPr id="8" name="slide-4-row-rule-1">
            <a:extLst xmlns:a="http://schemas.openxmlformats.org/drawingml/2006/main">
              <a:ext uri="{FF2B5EF4-FFF2-40B4-BE49-F238E27FC236}">
                <a16:creationId xmlns:a16="http://schemas.microsoft.com/office/drawing/2014/main" id="{11BC2F33-B140-426C-9816-935B9658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24175"/>
            <a:ext cx="698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-4-row-label-2">
            <a:extLst xmlns:a="http://schemas.openxmlformats.org/drawingml/2006/main">
              <a:ext uri="{FF2B5EF4-FFF2-40B4-BE49-F238E27FC236}">
                <a16:creationId xmlns:a16="http://schemas.microsoft.com/office/drawing/2014/main" id="{A17E6C7C-88DD-4018-8BFB-5A7077BF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908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并行 Workers</a:t>
            </a:r>
          </a:p>
        </p:txBody>
      </p:sp>
      <p:sp>
        <p:nvSpPr>
          <p:cNvPr id="10" name="slide-4-row-body-2">
            <a:extLst xmlns:a="http://schemas.openxmlformats.org/drawingml/2006/main">
              <a:ext uri="{FF2B5EF4-FFF2-40B4-BE49-F238E27FC236}">
                <a16:creationId xmlns:a16="http://schemas.microsoft.com/office/drawing/2014/main" id="{977D0031-2C6F-42EE-8F9D-06E3ED74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908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质量、重复、标注、覆盖、治理五类只读检查</a:t>
            </a:r>
          </a:p>
        </p:txBody>
      </p:sp>
      <p:sp>
        <p:nvSpPr>
          <p:cNvPr id="11" name="slide-4-row-rule-2">
            <a:extLst xmlns:a="http://schemas.openxmlformats.org/drawingml/2006/main">
              <a:ext uri="{FF2B5EF4-FFF2-40B4-BE49-F238E27FC236}">
                <a16:creationId xmlns:a16="http://schemas.microsoft.com/office/drawing/2014/main" id="{94274F86-DE8D-4A7D-B468-B8254C1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76675"/>
            <a:ext cx="698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lide-4-row-label-3">
            <a:extLst xmlns:a="http://schemas.openxmlformats.org/drawingml/2006/main">
              <a:ext uri="{FF2B5EF4-FFF2-40B4-BE49-F238E27FC236}">
                <a16:creationId xmlns:a16="http://schemas.microsoft.com/office/drawing/2014/main" id="{2003E7DB-3E46-455E-877C-CD4CC78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433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Dynamic Leader</a:t>
            </a:r>
          </a:p>
        </p:txBody>
      </p:sp>
      <p:sp>
        <p:nvSpPr>
          <p:cNvPr id="13" name="slide-4-row-body-3">
            <a:extLst xmlns:a="http://schemas.openxmlformats.org/drawingml/2006/main">
              <a:ext uri="{FF2B5EF4-FFF2-40B4-BE49-F238E27FC236}">
                <a16:creationId xmlns:a16="http://schemas.microsoft.com/office/drawing/2014/main" id="{E1379781-2C65-47F2-826D-D47526EE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433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数量漂移、分辨率组和冲突证据触发增派</a:t>
            </a:r>
          </a:p>
        </p:txBody>
      </p:sp>
      <p:sp>
        <p:nvSpPr>
          <p:cNvPr id="14" name="slide-4-row-rule-3">
            <a:extLst xmlns:a="http://schemas.openxmlformats.org/drawingml/2006/main">
              <a:ext uri="{FF2B5EF4-FFF2-40B4-BE49-F238E27FC236}">
                <a16:creationId xmlns:a16="http://schemas.microsoft.com/office/drawing/2014/main" id="{6B667CF2-102C-4146-AF3C-323F57A5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29175"/>
            <a:ext cx="698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-4-row-label-4">
            <a:extLst xmlns:a="http://schemas.openxmlformats.org/drawingml/2006/main">
              <a:ext uri="{FF2B5EF4-FFF2-40B4-BE49-F238E27FC236}">
                <a16:creationId xmlns:a16="http://schemas.microsoft.com/office/drawing/2014/main" id="{993C6063-2470-4583-B9AD-E3339829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958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Judge / Clerk</a:t>
            </a:r>
          </a:p>
        </p:txBody>
      </p:sp>
      <p:sp>
        <p:nvSpPr>
          <p:cNvPr id="16" name="slide-4-row-body-4">
            <a:extLst xmlns:a="http://schemas.openxmlformats.org/drawingml/2006/main">
              <a:ext uri="{FF2B5EF4-FFF2-40B4-BE49-F238E27FC236}">
                <a16:creationId xmlns:a16="http://schemas.microsoft.com/office/drawing/2014/main" id="{BB9F8E25-386B-452F-8A12-7AD92E34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规则裁决、工单责任、reason trace 与证据哈希</a:t>
            </a:r>
          </a:p>
        </p:txBody>
      </p:sp>
    </p:spTree>
    <p:extLst>
      <p:ext uri="{BB962C8B-B14F-4D97-AF65-F5344CB8AC3E}">
        <p14:creationId xmlns:p14="http://schemas.microsoft.com/office/powerpoint/2010/main" val="1512986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23750D19-89C7-4A3D-B857-51AADE4E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 Agent 的价值必须落到可复核证据</a:t>
            </a:r>
          </a:p>
        </p:txBody>
      </p:sp>
      <p:sp>
        <p:nvSpPr>
          <p:cNvPr id="2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F1B30631-AB31-4644-AD18-CAA92D9C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slide-8-point-title-1">
            <a:extLst xmlns:a="http://schemas.openxmlformats.org/drawingml/2006/main">
              <a:ext uri="{FF2B5EF4-FFF2-40B4-BE49-F238E27FC236}">
                <a16:creationId xmlns:a16="http://schemas.microsoft.com/office/drawing/2014/main" id="{98995463-ACCC-4DB6-B74F-C1F77E37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Planner / Leader</a:t>
            </a:r>
          </a:p>
        </p:txBody>
      </p:sp>
      <p:sp>
        <p:nvSpPr>
          <p:cNvPr id="4" name="slide-8-point-body-1">
            <a:extLst xmlns:a="http://schemas.openxmlformats.org/drawingml/2006/main">
              <a:ext uri="{FF2B5EF4-FFF2-40B4-BE49-F238E27FC236}">
                <a16:creationId xmlns:a16="http://schemas.microsoft.com/office/drawing/2014/main" id="{B4682EDD-17B0-4B26-BA0F-365CCDF1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9080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拆解目标并等待证据波次；只有中间证据改变下一步时才重规划。</a:t>
            </a:r>
          </a:p>
        </p:txBody>
      </p:sp>
      <p:sp>
        <p:nvSpPr>
          <p:cNvPr id="5" name="slide-8-point-title-2">
            <a:extLst xmlns:a="http://schemas.openxmlformats.org/drawingml/2006/main">
              <a:ext uri="{FF2B5EF4-FFF2-40B4-BE49-F238E27FC236}">
                <a16:creationId xmlns:a16="http://schemas.microsoft.com/office/drawing/2014/main" id="{33D7219D-6ADD-4C9C-9814-CDAB9F5D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88595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领域专家 Workers</a:t>
            </a:r>
          </a:p>
        </p:txBody>
      </p:sp>
      <p:sp>
        <p:nvSpPr>
          <p:cNvPr id="6" name="slide-8-point-body-2">
            <a:extLst xmlns:a="http://schemas.openxmlformats.org/drawingml/2006/main">
              <a:ext uri="{FF2B5EF4-FFF2-40B4-BE49-F238E27FC236}">
                <a16:creationId xmlns:a16="http://schemas.microsoft.com/office/drawing/2014/main" id="{DF2BE90C-168D-4D4A-8B25-27AF9909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59080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质量、标注、泄漏、覆盖与治理专家只解释工具结果，不覆盖原始数值。</a:t>
            </a:r>
          </a:p>
        </p:txBody>
      </p:sp>
      <p:sp>
        <p:nvSpPr>
          <p:cNvPr id="7" name="slide-8-point-title-3">
            <a:extLst xmlns:a="http://schemas.openxmlformats.org/drawingml/2006/main">
              <a:ext uri="{FF2B5EF4-FFF2-40B4-BE49-F238E27FC236}">
                <a16:creationId xmlns:a16="http://schemas.microsoft.com/office/drawing/2014/main" id="{391ABF4A-981D-4AB6-9C14-85A79B68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0025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Evidence Clerk</a:t>
            </a:r>
          </a:p>
        </p:txBody>
      </p:sp>
      <p:sp>
        <p:nvSpPr>
          <p:cNvPr id="8" name="slide-8-point-body-3">
            <a:extLst xmlns:a="http://schemas.openxmlformats.org/drawingml/2006/main">
              <a:ext uri="{FF2B5EF4-FFF2-40B4-BE49-F238E27FC236}">
                <a16:creationId xmlns:a16="http://schemas.microsoft.com/office/drawing/2014/main" id="{F2949967-2733-407A-99E6-3B3970BE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14875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统一 evidence_span、reason_trace、finding、work order 与 rule check。</a:t>
            </a:r>
          </a:p>
        </p:txBody>
      </p:sp>
      <p:sp>
        <p:nvSpPr>
          <p:cNvPr id="9" name="slide-8-point-title-4">
            <a:extLst xmlns:a="http://schemas.openxmlformats.org/drawingml/2006/main">
              <a:ext uri="{FF2B5EF4-FFF2-40B4-BE49-F238E27FC236}">
                <a16:creationId xmlns:a16="http://schemas.microsoft.com/office/drawing/2014/main" id="{FD1053F3-7C64-4FFC-A0E4-B8A689A6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0025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Policy Judge</a:t>
            </a:r>
          </a:p>
        </p:txBody>
      </p:sp>
      <p:sp>
        <p:nvSpPr>
          <p:cNvPr id="10" name="slide-8-point-body-4">
            <a:extLst xmlns:a="http://schemas.openxmlformats.org/drawingml/2006/main">
              <a:ext uri="{FF2B5EF4-FFF2-40B4-BE49-F238E27FC236}">
                <a16:creationId xmlns:a16="http://schemas.microsoft.com/office/drawing/2014/main" id="{EEF7601A-6A6A-4B09-9C3C-CCFDE47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714875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冻结规则失败关闭；缺 Worker、缺关键证据或冲突未解时不允许放行。</a:t>
            </a:r>
          </a:p>
        </p:txBody>
      </p:sp>
    </p:spTree>
    <p:extLst>
      <p:ext uri="{BB962C8B-B14F-4D97-AF65-F5344CB8AC3E}">
        <p14:creationId xmlns:p14="http://schemas.microsoft.com/office/powerpoint/2010/main" val="1289818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99BCE8E-CD4E-473F-9053-C6B526E6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5429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一个应用服务三类入口</a:t>
            </a:r>
          </a:p>
          <a:p xmlns:a="http://schemas.openxmlformats.org/drawingml/2006/main"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人、企业 Agent、SaaS</a:t>
            </a:r>
          </a:p>
        </p:txBody>
      </p:sp>
      <p:sp>
        <p:nvSpPr>
          <p:cNvPr id="2" name="slide-6-kicker">
            <a:extLst xmlns:a="http://schemas.openxmlformats.org/drawingml/2006/main">
              <a:ext uri="{FF2B5EF4-FFF2-40B4-BE49-F238E27FC236}">
                <a16:creationId xmlns:a16="http://schemas.microsoft.com/office/drawing/2014/main" id="{0296CDE3-A843-4DB5-8011-A3BD414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097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A6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66300"/>
                </a:solidFill>
                <a:latin typeface="Microsoft YaHei"/>
                <a:ea typeface="Microsoft YaHei"/>
                <a:cs typeface="Microsoft YaHei"/>
              </a:rPr>
              <a:t>一个 Runtime · 一套不可变证据契约</a:t>
            </a:r>
          </a:p>
        </p:txBody>
      </p:sp>
      <p:sp>
        <p:nvSpPr>
          <p:cNvPr id="3" name="slide-6-body">
            <a:extLst xmlns:a="http://schemas.openxmlformats.org/drawingml/2006/main">
              <a:ext uri="{FF2B5EF4-FFF2-40B4-BE49-F238E27FC236}">
                <a16:creationId xmlns:a16="http://schemas.microsoft.com/office/drawing/2014/main" id="{0A6EB352-8F3D-4BE8-A384-DBC4CE92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14625"/>
            <a:ext cx="5334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团队工作台：创建任务、复核问题、下载凭证</a:t>
            </a:r>
          </a:p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企业 Agent：POST /v1/tasks，按 task_id 跟踪</a:t>
            </a:r>
          </a:p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SaaS / 流水线：复用事件、trace 与 evidence ZIP</a:t>
            </a:r>
          </a:p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本地 Header 仅演示逻辑隔离，不是生产 IAM</a:t>
            </a:r>
          </a:p>
        </p:txBody>
      </p:sp>
      <p:sp>
        <p:nvSpPr>
          <p:cNvPr id="4" name="slide-6-code">
            <a:extLst xmlns:a="http://schemas.openxmlformats.org/drawingml/2006/main">
              <a:ext uri="{FF2B5EF4-FFF2-40B4-BE49-F238E27FC236}">
                <a16:creationId xmlns:a16="http://schemas.microsoft.com/office/drawing/2014/main" id="{8794A7E5-7AF6-4E5E-9375-E7963734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72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202 Accepted  ·  ETag  ·  X-Evidence-SHA256</a:t>
            </a:r>
          </a:p>
        </p:txBody>
      </p:sp>
      <p:sp>
        <p:nvSpPr>
          <p:cNvPr id="5" name="slide-6-image-backing">
            <a:extLst xmlns:a="http://schemas.openxmlformats.org/drawingml/2006/main">
              <a:ext uri="{FF2B5EF4-FFF2-40B4-BE49-F238E27FC236}">
                <a16:creationId xmlns:a16="http://schemas.microsoft.com/office/drawing/2014/main" id="{4948B2F9-E8B9-4D79-83F0-CFEA8B9A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e5ce910694d74"/>
          <a:srcRect xmlns:a="http://schemas.openxmlformats.org/drawingml/2006/main" l="22188" t="0" r="22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7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D8664CD0-81C9-4859-9D30-89C3C3E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136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8B490F9-6DEC-4C29-AD84-3C9282E5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 SOP 没有证明多 Agent 更好</a:t>
            </a:r>
          </a:p>
        </p:txBody>
      </p:sp>
      <p:sp>
        <p:nvSpPr>
          <p:cNvPr id="2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B268A9DC-915D-45E3-B007-F2874C26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slide-7-intro">
            <a:extLst xmlns:a="http://schemas.openxmlformats.org/drawingml/2006/main">
              <a:ext uri="{FF2B5EF4-FFF2-40B4-BE49-F238E27FC236}">
                <a16:creationId xmlns:a16="http://schemas.microsoft.com/office/drawing/2014/main" id="{B2E11117-6BF6-407C-9459-29BF0E72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ArchBench-v2 冻结输入、BatchContract、五类工具和同一 Judge：8 seeds × 3 repeats × 4 perturbations × 3 架构，共 288 条记录。三种架构质量、成功率与扰动稳定性相同；多 Agent 反而增加相对计算单元。</a:t>
            </a:r>
          </a:p>
        </p:txBody>
      </p:sp>
      <p:sp>
        <p:nvSpPr>
          <p:cNvPr id="4" name="slide-7-metric-panel-1">
            <a:extLst xmlns:a="http://schemas.openxmlformats.org/drawingml/2006/main">
              <a:ext uri="{FF2B5EF4-FFF2-40B4-BE49-F238E27FC236}">
                <a16:creationId xmlns:a16="http://schemas.microsoft.com/office/drawing/2014/main" id="{A621B7C6-6A75-47BB-9F90-843EB082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3568732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7-metric-value-1">
            <a:extLst xmlns:a="http://schemas.openxmlformats.org/drawingml/2006/main">
              <a:ext uri="{FF2B5EF4-FFF2-40B4-BE49-F238E27FC236}">
                <a16:creationId xmlns:a16="http://schemas.microsoft.com/office/drawing/2014/main" id="{158D6C83-B928-46C1-9038-F6AB6CE0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3286125"/>
            <a:ext cx="3000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6" name="slide-7-metric-label-1">
            <a:extLst xmlns:a="http://schemas.openxmlformats.org/drawingml/2006/main">
              <a:ext uri="{FF2B5EF4-FFF2-40B4-BE49-F238E27FC236}">
                <a16:creationId xmlns:a16="http://schemas.microsoft.com/office/drawing/2014/main" id="{C9EBFA48-B5A6-4F70-9F42-F59B7DEF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47625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错误放行率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三种架构一致</a:t>
            </a:r>
          </a:p>
        </p:txBody>
      </p:sp>
      <p:sp>
        <p:nvSpPr>
          <p:cNvPr id="7" name="slide-7-metric-panel-2">
            <a:extLst xmlns:a="http://schemas.openxmlformats.org/drawingml/2006/main">
              <a:ext uri="{FF2B5EF4-FFF2-40B4-BE49-F238E27FC236}">
                <a16:creationId xmlns:a16="http://schemas.microsoft.com/office/drawing/2014/main" id="{53608C85-01CA-42C0-80F4-764FBD9E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857500"/>
            <a:ext cx="3568732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lide-7-metric-value-2">
            <a:extLst xmlns:a="http://schemas.openxmlformats.org/drawingml/2006/main">
              <a:ext uri="{FF2B5EF4-FFF2-40B4-BE49-F238E27FC236}">
                <a16:creationId xmlns:a16="http://schemas.microsoft.com/office/drawing/2014/main" id="{4FEEEACF-EBD7-498E-ACE0-90FD4694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3286125"/>
            <a:ext cx="3000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9" name="slide-7-metric-label-2">
            <a:extLst xmlns:a="http://schemas.openxmlformats.org/drawingml/2006/main">
              <a:ext uri="{FF2B5EF4-FFF2-40B4-BE49-F238E27FC236}">
                <a16:creationId xmlns:a16="http://schemas.microsoft.com/office/drawing/2014/main" id="{0BC66FAC-3C3E-4FFE-AE85-B79147A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47625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任务成功 / 扰动稳定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三种架构一致</a:t>
            </a:r>
          </a:p>
        </p:txBody>
      </p:sp>
      <p:sp>
        <p:nvSpPr>
          <p:cNvPr id="10" name="slide-7-metric-panel-3">
            <a:extLst xmlns:a="http://schemas.openxmlformats.org/drawingml/2006/main">
              <a:ext uri="{FF2B5EF4-FFF2-40B4-BE49-F238E27FC236}">
                <a16:creationId xmlns:a16="http://schemas.microsoft.com/office/drawing/2014/main" id="{78A44DC4-EA0A-415A-8731-65D0827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857500"/>
            <a:ext cx="3568732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-7-metric-value-3">
            <a:extLst xmlns:a="http://schemas.openxmlformats.org/drawingml/2006/main">
              <a:ext uri="{FF2B5EF4-FFF2-40B4-BE49-F238E27FC236}">
                <a16:creationId xmlns:a16="http://schemas.microsoft.com/office/drawing/2014/main" id="{7E5C727D-8BE0-46C0-9DF5-71786C85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3286125"/>
            <a:ext cx="3000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38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38A4B"/>
                </a:solidFill>
                <a:latin typeface="Microsoft YaHei"/>
                <a:ea typeface="Microsoft YaHei"/>
                <a:cs typeface="Microsoft YaHei"/>
              </a:rPr>
              <a:t>5·6·11</a:t>
            </a:r>
          </a:p>
        </p:txBody>
      </p:sp>
      <p:sp>
        <p:nvSpPr>
          <p:cNvPr id="12" name="slide-7-metric-label-3">
            <a:extLst xmlns:a="http://schemas.openxmlformats.org/drawingml/2006/main">
              <a:ext uri="{FF2B5EF4-FFF2-40B4-BE49-F238E27FC236}">
                <a16:creationId xmlns:a16="http://schemas.microsoft.com/office/drawing/2014/main" id="{F4A053D3-D111-4147-9CCD-43A4EF9B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47625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相对计算单元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流水线 / 单 / 多 Agent</a:t>
            </a:r>
          </a:p>
        </p:txBody>
      </p:sp>
    </p:spTree>
    <p:extLst>
      <p:ext uri="{BB962C8B-B14F-4D97-AF65-F5344CB8AC3E}">
        <p14:creationId xmlns:p14="http://schemas.microsoft.com/office/powerpoint/2010/main" val="19313283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4D2D6DA-377F-4DBE-A948-1FE5B9B1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一张证据矩阵把工具、工单和规则检查串起来</a:t>
            </a:r>
          </a:p>
        </p:txBody>
      </p:sp>
      <p:sp>
        <p:nvSpPr>
          <p:cNvPr id="2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84448526-6E44-4895-BBF4-8ED92F8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slide-5-intro">
            <a:extLst xmlns:a="http://schemas.openxmlformats.org/drawingml/2006/main">
              <a:ext uri="{FF2B5EF4-FFF2-40B4-BE49-F238E27FC236}">
                <a16:creationId xmlns:a16="http://schemas.microsoft.com/office/drawing/2014/main" id="{00EA66D0-007D-4B23-9130-B9B98FA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每一行都可以沿 tool → finding → dynamic action → work order → rule check 回放。下表列 5 个代表性分支；完整 Omni-180-v1 交付包含 45 findings、45 work orders 与 8 项 rule checks。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93668" y="2171700"/>
          <a:ext xmlns:a="http://schemas.openxmlformats.org/drawingml/2006/main" cx="11404568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495800"/>
                <a:gridCol w="1428750"/>
                <a:gridCol w="2238375"/>
                <a:gridCol w="1619250"/>
              </a:tblGrid>
              <a:tr h="635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触发证据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动态动作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工单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规则检查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metadata 漂移 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METADATA_COUNT_DRIFT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增派对账 Worker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保留调查工单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28 个分辨率组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RESOLUTION_GROUP_DRIFT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增派补证 Worker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按组测量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2 样本行动冲突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CROSS_TOOL_ACTION_CONFLICT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增派冲突复核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转 INVESTIGATE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关键 Worker 缺失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MISSING_WORKER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停止下游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DEFER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0000"/>
                          </a:solidFill>
                        </a:rPr>
                        <a:t>修复后复验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0000"/>
                          </a:solidFill>
                        </a:rPr>
                        <a:t>SAME_CONTRACT_RECHECK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0000"/>
                          </a:solidFill>
                        </a:rPr>
                        <a:t>重跑原规则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0000"/>
                          </a:solidFill>
                        </a:rPr>
                        <a:t>关闭工单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38A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755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1509B688-B7E5-4789-A0F6-BD308B18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5429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Omni 公开数据让 Leader 真的改了下一步</a:t>
            </a:r>
          </a:p>
        </p:txBody>
      </p:sp>
      <p:sp>
        <p:nvSpPr>
          <p:cNvPr id="2" name="slide-9-kicker">
            <a:extLst xmlns:a="http://schemas.openxmlformats.org/drawingml/2006/main">
              <a:ext uri="{FF2B5EF4-FFF2-40B4-BE49-F238E27FC236}">
                <a16:creationId xmlns:a16="http://schemas.microsoft.com/office/drawing/2014/main" id="{DBA90D10-4C8B-4E09-902F-6272E40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097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 180 张 pilot · 1 次重规划 · 动态增派 3 个 Worker</a:t>
            </a:r>
          </a:p>
        </p:txBody>
      </p:sp>
      <p:sp>
        <p:nvSpPr>
          <p:cNvPr id="3" name="slide-9-body">
            <a:extLst xmlns:a="http://schemas.openxmlformats.org/drawingml/2006/main">
              <a:ext uri="{FF2B5EF4-FFF2-40B4-BE49-F238E27FC236}">
                <a16:creationId xmlns:a16="http://schemas.microsoft.com/office/drawing/2014/main" id="{B328DD6B-4DC0-4FB8-B394-C14A20A0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14625"/>
            <a:ext cx="5334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触发 1：metadata 与文件树数量漂移 15</a:t>
            </a:r>
          </a:p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触发 2：出现 28 个原生分辨率组</a:t>
            </a:r>
          </a:p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触发 3：2 个样本发生跨工具处置冲突</a:t>
            </a:r>
          </a:p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结果：RECAPTURE · 45 findings · 45 工单 · 2 INVESTIGATE</a:t>
            </a:r>
          </a:p>
        </p:txBody>
      </p:sp>
      <p:sp>
        <p:nvSpPr>
          <p:cNvPr id="4" name="slide-9-code">
            <a:extLst xmlns:a="http://schemas.openxmlformats.org/drawingml/2006/main">
              <a:ext uri="{FF2B5EF4-FFF2-40B4-BE49-F238E27FC236}">
                <a16:creationId xmlns:a16="http://schemas.microsoft.com/office/drawing/2014/main" id="{17845828-3B98-4337-8312-BF84DFFF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72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180 Gate / 4,464 仅结构与解码审计</a:t>
            </a:r>
          </a:p>
        </p:txBody>
      </p:sp>
      <p:sp>
        <p:nvSpPr>
          <p:cNvPr id="5" name="slide-9-image-backing">
            <a:extLst xmlns:a="http://schemas.openxmlformats.org/drawingml/2006/main">
              <a:ext uri="{FF2B5EF4-FFF2-40B4-BE49-F238E27FC236}">
                <a16:creationId xmlns:a16="http://schemas.microsoft.com/office/drawing/2014/main" id="{6E102E59-B05F-402A-8E77-7243A7D0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09df310ed4f6a"/>
          <a:srcRect xmlns:a="http://schemas.openxmlformats.org/drawingml/2006/main" l="22188" t="0" r="22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7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B4F0A78F-31A4-41DF-A25A-032BE61C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1037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45CFEB03-6A3C-4492-8B96-DD52B13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应用提出约束，Infra 把结果变得可采用</a:t>
            </a:r>
          </a:p>
        </p:txBody>
      </p:sp>
      <p:sp>
        <p:nvSpPr>
          <p:cNvPr id="2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CE2C9A49-E879-4D2C-B5C1-B646995B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slide-10-intro">
            <a:extLst xmlns:a="http://schemas.openxmlformats.org/drawingml/2006/main">
              <a:ext uri="{FF2B5EF4-FFF2-40B4-BE49-F238E27FC236}">
                <a16:creationId xmlns:a16="http://schemas.microsoft.com/office/drawing/2014/main" id="{B4946740-2813-4B4B-B4CA-4926BC73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工业批次审核不是一个问答题。业务闭环需要跨工具证据、冲突处置、责任工单、同规则复验和结果交付；这些约束反过来塑造 Runtime。Runtime 再用 typed task、工具白名单、失败关闭和可追踪 reason trace，把应用从“给建议”变成“交付决定”。</a:t>
            </a:r>
          </a:p>
        </p:txBody>
      </p:sp>
      <p:sp>
        <p:nvSpPr>
          <p:cNvPr id="4" name="slide-10-card-1">
            <a:extLst xmlns:a="http://schemas.openxmlformats.org/drawingml/2006/main">
              <a:ext uri="{FF2B5EF4-FFF2-40B4-BE49-F238E27FC236}">
                <a16:creationId xmlns:a16="http://schemas.microsoft.com/office/drawing/2014/main" id="{41C3BD6D-4725-4713-8416-8A1217F7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162300"/>
            <a:ext cx="553393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0-accent-1">
            <a:extLst xmlns:a="http://schemas.openxmlformats.org/drawingml/2006/main">
              <a:ext uri="{FF2B5EF4-FFF2-40B4-BE49-F238E27FC236}">
                <a16:creationId xmlns:a16="http://schemas.microsoft.com/office/drawing/2014/main" id="{2DC9A984-0804-4EFF-9283-E1B3B12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162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10-card-title-1">
            <a:extLst xmlns:a="http://schemas.openxmlformats.org/drawingml/2006/main">
              <a:ext uri="{FF2B5EF4-FFF2-40B4-BE49-F238E27FC236}">
                <a16:creationId xmlns:a16="http://schemas.microsoft.com/office/drawing/2014/main" id="{228CBBA0-4EF8-4637-97BC-9EE9FB2B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" y="3448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APPLICATION → INFRA</a:t>
            </a:r>
          </a:p>
        </p:txBody>
      </p:sp>
      <p:sp>
        <p:nvSpPr>
          <p:cNvPr id="7" name="slide-10-card-detail-1">
            <a:extLst xmlns:a="http://schemas.openxmlformats.org/drawingml/2006/main">
              <a:ext uri="{FF2B5EF4-FFF2-40B4-BE49-F238E27FC236}">
                <a16:creationId xmlns:a16="http://schemas.microsoft.com/office/drawing/2014/main" id="{6FFED4AE-1378-41FA-8E20-44D35DFF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" y="4953000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批次合同定义任务边界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冲突与漂移触发动态调度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工单和复验要求不可变 trace</a:t>
            </a:r>
          </a:p>
        </p:txBody>
      </p:sp>
      <p:sp>
        <p:nvSpPr>
          <p:cNvPr id="8" name="slide-10-card-2">
            <a:extLst xmlns:a="http://schemas.openxmlformats.org/drawingml/2006/main">
              <a:ext uri="{FF2B5EF4-FFF2-40B4-BE49-F238E27FC236}">
                <a16:creationId xmlns:a16="http://schemas.microsoft.com/office/drawing/2014/main" id="{D2D10DBE-7472-4FE3-BBC4-FAA71274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162300"/>
            <a:ext cx="553393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-10-accent-2">
            <a:extLst xmlns:a="http://schemas.openxmlformats.org/drawingml/2006/main">
              <a:ext uri="{FF2B5EF4-FFF2-40B4-BE49-F238E27FC236}">
                <a16:creationId xmlns:a16="http://schemas.microsoft.com/office/drawing/2014/main" id="{83E50CEF-93CE-42B8-A2EF-B465AE92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162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10-card-title-2">
            <a:extLst xmlns:a="http://schemas.openxmlformats.org/drawingml/2006/main">
              <a:ext uri="{FF2B5EF4-FFF2-40B4-BE49-F238E27FC236}">
                <a16:creationId xmlns:a16="http://schemas.microsoft.com/office/drawing/2014/main" id="{101B8B6D-50D4-4F24-87D7-5894DCD2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533" y="3448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INFRA → APPLICATION</a:t>
            </a:r>
          </a:p>
        </p:txBody>
      </p:sp>
      <p:sp>
        <p:nvSpPr>
          <p:cNvPr id="11" name="slide-10-card-detail-2">
            <a:extLst xmlns:a="http://schemas.openxmlformats.org/drawingml/2006/main">
              <a:ext uri="{FF2B5EF4-FFF2-40B4-BE49-F238E27FC236}">
                <a16:creationId xmlns:a16="http://schemas.microsoft.com/office/drawing/2014/main" id="{9CA864E6-644D-4800-A624-03AD59FE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533" y="4953000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统一 evidence_span / reason_trace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Judge 缺证据失败关闭</a:t>
            </a:r>
          </a:p>
          <a:p xmlns:a="http://schemas.openxmlformats.org/drawingml/2006/main"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adapter 让同一闭环可复用</a:t>
            </a:r>
          </a:p>
        </p:txBody>
      </p:sp>
    </p:spTree>
    <p:extLst>
      <p:ext uri="{BB962C8B-B14F-4D97-AF65-F5344CB8AC3E}">
        <p14:creationId xmlns:p14="http://schemas.microsoft.com/office/powerpoint/2010/main" val="8412845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19ADE3E-E8EC-4159-A808-9D88237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前两层已经完成，第三层进入外部验收</a:t>
            </a:r>
          </a:p>
        </p:txBody>
      </p:sp>
      <p:sp>
        <p:nvSpPr>
          <p:cNvPr id="2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748F798B-24C2-4764-BA49-25BEAAA7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slide-11-timeline-rule">
            <a:extLst xmlns:a="http://schemas.openxmlformats.org/drawingml/2006/main">
              <a:ext uri="{FF2B5EF4-FFF2-40B4-BE49-F238E27FC236}">
                <a16:creationId xmlns:a16="http://schemas.microsoft.com/office/drawing/2014/main" id="{D66A7515-C0CA-49AE-B94F-D429A92E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1-label-1">
            <a:extLst xmlns:a="http://schemas.openxmlformats.org/drawingml/2006/main">
              <a:ext uri="{FF2B5EF4-FFF2-40B4-BE49-F238E27FC236}">
                <a16:creationId xmlns:a16="http://schemas.microsoft.com/office/drawing/2014/main" id="{CAFA324B-CB0B-488C-B6BD-C379B07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工程实现 · PASS</a:t>
            </a:r>
          </a:p>
        </p:txBody>
      </p:sp>
      <p:sp>
        <p:nvSpPr>
          <p:cNvPr id="5" name="slide-11-node-1">
            <a:extLst xmlns:a="http://schemas.openxmlformats.org/drawingml/2006/main">
              <a:ext uri="{FF2B5EF4-FFF2-40B4-BE49-F238E27FC236}">
                <a16:creationId xmlns:a16="http://schemas.microsoft.com/office/drawing/2014/main" id="{4B778B65-BFFB-4012-B823-15E59C11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11-step-title-1">
            <a:extLst xmlns:a="http://schemas.openxmlformats.org/drawingml/2006/main">
              <a:ext uri="{FF2B5EF4-FFF2-40B4-BE49-F238E27FC236}">
                <a16:creationId xmlns:a16="http://schemas.microsoft.com/office/drawing/2014/main" id="{8ABFA641-757E-4AD9-9568-A5845AD8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本地应用闭环已跑通</a:t>
            </a:r>
          </a:p>
        </p:txBody>
      </p:sp>
      <p:sp>
        <p:nvSpPr>
          <p:cNvPr id="7" name="slide-11-step-body-1">
            <a:extLst xmlns:a="http://schemas.openxmlformats.org/drawingml/2006/main">
              <a:ext uri="{FF2B5EF4-FFF2-40B4-BE49-F238E27FC236}">
                <a16:creationId xmlns:a16="http://schemas.microsoft.com/office/drawing/2014/main" id="{43EF698D-5D3A-4B38-8FD7-E6176A67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工作台、API、五类工具、动态 Leader、Policy Judge、工单、复验与凭证。</a:t>
            </a:r>
          </a:p>
        </p:txBody>
      </p:sp>
      <p:sp>
        <p:nvSpPr>
          <p:cNvPr id="8" name="slide-11-label-2">
            <a:extLst xmlns:a="http://schemas.openxmlformats.org/drawingml/2006/main">
              <a:ext uri="{FF2B5EF4-FFF2-40B4-BE49-F238E27FC236}">
                <a16:creationId xmlns:a16="http://schemas.microsoft.com/office/drawing/2014/main" id="{43C33787-4A73-453F-8164-12798A8B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数据实跑 · PASS</a:t>
            </a:r>
          </a:p>
        </p:txBody>
      </p:sp>
      <p:sp>
        <p:nvSpPr>
          <p:cNvPr id="9" name="slide-11-node-2">
            <a:extLst xmlns:a="http://schemas.openxmlformats.org/drawingml/2006/main">
              <a:ext uri="{FF2B5EF4-FFF2-40B4-BE49-F238E27FC236}">
                <a16:creationId xmlns:a16="http://schemas.microsoft.com/office/drawing/2014/main" id="{29ACE453-D4DF-4FE6-94EB-2D7A8DB9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11-step-title-2">
            <a:extLst xmlns:a="http://schemas.openxmlformats.org/drawingml/2006/main">
              <a:ext uri="{FF2B5EF4-FFF2-40B4-BE49-F238E27FC236}">
                <a16:creationId xmlns:a16="http://schemas.microsoft.com/office/drawing/2014/main" id="{15FBF4DF-E6BE-495E-A5F2-BC814BD3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Omni-180-v1 已实跑</a:t>
            </a:r>
          </a:p>
        </p:txBody>
      </p:sp>
      <p:sp>
        <p:nvSpPr>
          <p:cNvPr id="11" name="slide-11-step-body-2">
            <a:extLst xmlns:a="http://schemas.openxmlformats.org/drawingml/2006/main">
              <a:ext uri="{FF2B5EF4-FFF2-40B4-BE49-F238E27FC236}">
                <a16:creationId xmlns:a16="http://schemas.microsoft.com/office/drawing/2014/main" id="{EFC1D3B0-CC6E-4BC0-A9F8-1561BE0D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180 张图像；1 次 replan；3 个动态 Worker；45 findings → 45 工单；RECAPTURE。</a:t>
            </a:r>
          </a:p>
        </p:txBody>
      </p:sp>
      <p:sp>
        <p:nvSpPr>
          <p:cNvPr id="12" name="slide-11-label-3">
            <a:extLst xmlns:a="http://schemas.openxmlformats.org/drawingml/2006/main">
              <a:ext uri="{FF2B5EF4-FFF2-40B4-BE49-F238E27FC236}">
                <a16:creationId xmlns:a16="http://schemas.microsoft.com/office/drawing/2014/main" id="{E4D070A3-F5C3-4C9F-A6F5-F061293C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外部验收 · NEXT</a:t>
            </a:r>
          </a:p>
        </p:txBody>
      </p:sp>
      <p:sp>
        <p:nvSpPr>
          <p:cNvPr id="13" name="slide-11-node-3">
            <a:extLst xmlns:a="http://schemas.openxmlformats.org/drawingml/2006/main">
              <a:ext uri="{FF2B5EF4-FFF2-40B4-BE49-F238E27FC236}">
                <a16:creationId xmlns:a16="http://schemas.microsoft.com/office/drawing/2014/main" id="{124BB9DE-939C-40D7-9544-9CFD0EF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lide-11-step-title-3">
            <a:extLst xmlns:a="http://schemas.openxmlformats.org/drawingml/2006/main">
              <a:ext uri="{FF2B5EF4-FFF2-40B4-BE49-F238E27FC236}">
                <a16:creationId xmlns:a16="http://schemas.microsoft.com/office/drawing/2014/main" id="{AD927169-6D1F-410E-B71F-F0DECB5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客户、工厂与生产接入</a:t>
            </a:r>
          </a:p>
        </p:txBody>
      </p:sp>
      <p:sp>
        <p:nvSpPr>
          <p:cNvPr id="15" name="slide-11-step-body-3">
            <a:extLst xmlns:a="http://schemas.openxmlformats.org/drawingml/2006/main">
              <a:ext uri="{FF2B5EF4-FFF2-40B4-BE49-F238E27FC236}">
                <a16:creationId xmlns:a16="http://schemas.microsoft.com/office/drawing/2014/main" id="{D6D74585-B175-424A-BBA2-16D9182C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shadow test、现场 KPI、生产 IAM 与 hosted transport 需外部主体回执。</a:t>
            </a:r>
          </a:p>
        </p:txBody>
      </p:sp>
    </p:spTree>
    <p:extLst>
      <p:ext uri="{BB962C8B-B14F-4D97-AF65-F5344CB8AC3E}">
        <p14:creationId xmlns:p14="http://schemas.microsoft.com/office/powerpoint/2010/main" val="14912621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12-eyebrow">
            <a:extLst xmlns:a="http://schemas.openxmlformats.org/drawingml/2006/main">
              <a:ext uri="{FF2B5EF4-FFF2-40B4-BE49-F238E27FC236}">
                <a16:creationId xmlns:a16="http://schemas.microsoft.com/office/drawing/2014/main" id="{A4FF2A22-94D4-405A-B347-D3FDC1F5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VISIONDATA GATE · BOUNDLESS AGENTS</a:t>
            </a:r>
          </a:p>
        </p:txBody>
      </p:sp>
      <p:sp>
        <p:nvSpPr>
          <p:cNvPr id="2" name="slide-12-title-line-1">
            <a:extLst xmlns:a="http://schemas.openxmlformats.org/drawingml/2006/main">
              <a:ext uri="{FF2B5EF4-FFF2-40B4-BE49-F238E27FC236}">
                <a16:creationId xmlns:a16="http://schemas.microsoft.com/office/drawing/2014/main" id="{75C247C9-6C60-4FDE-B147-A9695FD2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9477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让工业数据发布</a:t>
            </a:r>
          </a:p>
        </p:txBody>
      </p:sp>
      <p:sp>
        <p:nvSpPr>
          <p:cNvPr id="3" name="slide-12-title-line-2">
            <a:extLst xmlns:a="http://schemas.openxmlformats.org/drawingml/2006/main">
              <a:ext uri="{FF2B5EF4-FFF2-40B4-BE49-F238E27FC236}">
                <a16:creationId xmlns:a16="http://schemas.microsoft.com/office/drawing/2014/main" id="{A222A2DB-2A8D-4EF1-A0CD-FD86F4EE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9477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从脚本结果变成可交付决定</a:t>
            </a:r>
          </a:p>
        </p:txBody>
      </p:sp>
      <p:sp>
        <p:nvSpPr>
          <p:cNvPr id="4" name="slide-12-points">
            <a:extLst xmlns:a="http://schemas.openxmlformats.org/drawingml/2006/main">
              <a:ext uri="{FF2B5EF4-FFF2-40B4-BE49-F238E27FC236}">
                <a16:creationId xmlns:a16="http://schemas.microsoft.com/office/drawing/2014/main" id="{5141740F-412A-46D9-B554-7EEB3D42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530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可运行任务闭环</a:t>
            </a:r>
          </a:p>
          <a:p xmlns:a="http://schemas.openxmlformats.org/drawingml/2006/main">
            <a:r>
              <a:rPr sz="20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证据触发动态补证</a:t>
            </a:r>
          </a:p>
          <a:p xmlns:a="http://schemas.openxmlformats.org/drawingml/2006/main">
            <a:r>
              <a:rPr sz="2025" b="0">
                <a:solidFill>
                  <a:srgbClr val="5B6473"/>
                </a:solidFill>
                <a:latin typeface="Microsoft YaHei"/>
                <a:ea typeface="Microsoft YaHei"/>
                <a:cs typeface="Microsoft YaHei"/>
              </a:rPr>
              <a:t>失败关闭与可复验凭证</a:t>
            </a:r>
          </a:p>
        </p:txBody>
      </p:sp>
      <p:sp>
        <p:nvSpPr>
          <p:cNvPr id="5" name="slide-12-accent">
            <a:extLst xmlns:a="http://schemas.openxmlformats.org/drawingml/2006/main">
              <a:ext uri="{FF2B5EF4-FFF2-40B4-BE49-F238E27FC236}">
                <a16:creationId xmlns:a16="http://schemas.microsoft.com/office/drawing/2014/main" id="{FCF2B1FD-0FE7-4880-A0DD-7E6ECF8E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24000"/>
            <a:ext cx="1428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1523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2026-08-15T00:23:10.6550000Z</dcterms:created>
  <dcterms:modified xsi:type="dcterms:W3CDTF">2026-08-15T00:23:10.6550000Z</dcterms:modified>
</coreProperties>
</file>